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EB Garamond"/>
      <p:regular r:id="rId17"/>
      <p:bold r:id="rId18"/>
      <p:italic r:id="rId19"/>
      <p:boldItalic r:id="rId20"/>
    </p:embeddedFont>
    <p:embeddedFont>
      <p:font typeface="Montserrat ExtraBold"/>
      <p:bold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-boldItalic.fntdata"/><Relationship Id="rId22" Type="http://schemas.openxmlformats.org/officeDocument/2006/relationships/font" Target="fonts/MontserratExtraBold-boldItalic.fntdata"/><Relationship Id="rId21" Type="http://schemas.openxmlformats.org/officeDocument/2006/relationships/font" Target="fonts/MontserratExtraBold-bold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EBGaramond-regular.fntdata"/><Relationship Id="rId16" Type="http://schemas.openxmlformats.org/officeDocument/2006/relationships/font" Target="fonts/Montserrat-boldItalic.fntdata"/><Relationship Id="rId19" Type="http://schemas.openxmlformats.org/officeDocument/2006/relationships/font" Target="fonts/EBGaramond-italic.fntdata"/><Relationship Id="rId18" Type="http://schemas.openxmlformats.org/officeDocument/2006/relationships/font" Target="fonts/EBGaramon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99c5d07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99c5d07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199c5d07d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199c5d07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199c5d07d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199c5d07d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199c5d07d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199c5d07d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99c5d07d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199c5d07d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199c5d07d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199c5d07d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North Airlines Connection: A Turnaround Story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71250" y="3163350"/>
            <a:ext cx="7801500" cy="7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Jack &amp; Aliyah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69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Our Vision &amp; Initial Plan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32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B Garamond"/>
              <a:buChar char="●"/>
            </a:pPr>
            <a:r>
              <a:rPr lang="en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Our Vision: </a:t>
            </a:r>
            <a:br>
              <a:rPr lang="en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To transition </a:t>
            </a:r>
            <a:r>
              <a:rPr lang="en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LuthorCorp</a:t>
            </a:r>
            <a:r>
              <a:rPr lang="en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 from a simple regional carrier into the regions #1 premium, high reliability, leveraging a strategic partnership with a major carrier.</a:t>
            </a:r>
            <a:endParaRPr>
              <a:solidFill>
                <a:srgbClr val="FFFFFF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B Garamond"/>
              <a:buChar char="●"/>
            </a:pPr>
            <a:r>
              <a:rPr lang="en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The Initial Plan:</a:t>
            </a:r>
            <a:endParaRPr>
              <a:solidFill>
                <a:srgbClr val="FFFFFF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Achieve best-in-class </a:t>
            </a:r>
            <a:r>
              <a:rPr lang="en" sz="18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operational metrics Quality and Reliability.</a:t>
            </a:r>
            <a:endParaRPr sz="1800">
              <a:solidFill>
                <a:srgbClr val="FFFFFF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Build a modern, efficient fleet that would lower our costs (CASM)</a:t>
            </a:r>
            <a:endParaRPr sz="1800">
              <a:solidFill>
                <a:srgbClr val="FFFFFF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Find a sustainable, diversified profit model that wasn’t just dependant on ticket sales.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11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ExtraBold"/>
                <a:ea typeface="Montserrat ExtraBold"/>
                <a:cs typeface="Montserrat ExtraBold"/>
                <a:sym typeface="Montserrat ExtraBold"/>
              </a:rPr>
              <a:t>Performance: The Brink of Collapse</a:t>
            </a:r>
            <a:endParaRPr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Objective: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Achieve 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sustainable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profitability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Actual Performance (Q1-Q4)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We failed. Our initial strategy of reallocating flights and testing premium pricing was a catastrophic failure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market was far more price-sensitive then we assumed, and our 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strategy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led to back-to-back losses, culminating in a -$138,633 loss in Quarter 4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By the end of Q4, out airline was operationally and financially 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broken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and our cumulative net profit was -$54,607. We were on the verge of bankruptcy.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366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Key Strategic Move: The “Shrink to Survive” Pivot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We realized our business model was wrong. In quarter 5, we executed a “Shrink to Survive” plan to stop the bleeding.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Action 1: Cut Fixed Costs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We disposed of our leased aircraft, 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shrinking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our fleet from 3 to 2.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Action 2: Find a New Profit Engine: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We 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accepted the North Airlines partnership, and, most importantly, implemented service fees for bags and seats.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Result: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This single move was the turning point. It swung us from a -138k loss to a $40,168 profit in just a single quarter.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602425"/>
            <a:ext cx="8520600" cy="31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Our Q5 profit was a financial trick-our core airline was still broken and losing money on every flight.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We used our new profits for a planned, high-expense “Great Reset” in Quarter 7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We 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fixed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our fleet: We sold our entire old fleet and purchased two new, fuel-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efficient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TP-300Es, funding ti with our cash and a new long-term loan.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We fixed our employee crisis: We addressed a strike 5% pay raise and stock bonus plan, which won us the “Employer of the Region” award.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This quarter reset our foundation, giving us Rank 1 Operating Expense and an elite brand.</a:t>
            </a:r>
            <a:br>
              <a:rPr lang="en"/>
            </a:br>
            <a:endParaRPr/>
          </a:p>
        </p:txBody>
      </p:sp>
      <p:sp>
        <p:nvSpPr>
          <p:cNvPr id="79" name="Google Shape;79;p17"/>
          <p:cNvSpPr txBox="1"/>
          <p:nvPr/>
        </p:nvSpPr>
        <p:spPr>
          <a:xfrm>
            <a:off x="311700" y="313775"/>
            <a:ext cx="85206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Strategic Move: The “Great Reset”</a:t>
            </a:r>
            <a:endParaRPr b="1"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381000" y="952500"/>
            <a:ext cx="4112400" cy="3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Positioned for 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Future:</a:t>
            </a:r>
            <a:b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We finished the simulation as a financial powerhouse.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Our Model: We used our Rank 1 Brand in Quality (99) and Reliability (94.7%) to justify an 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aggressive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price war (fare sales).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4572000" y="952500"/>
            <a:ext cx="4269300" cy="3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This price war drove massive passenger volume, which, while unprofitable on its own, fed our real profit engine: high-margin ancillary fees.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Final result: This model took us from a -$54k cumulative loss to a final Cumulative Net Profit of $740,625, securing a Rank 3 finish.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291350" y="280150"/>
            <a:ext cx="8482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Final Winning Model</a:t>
            </a:r>
            <a:endParaRPr b="1"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Key Takeaways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Takeaway 1: Identify Your Real Profit Engine.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Our “Aha!” moment was realizing we weren’t a passenger airline; we were a financial company. Our airline was a “loss leader” to get high-margin fee-paying customers on board. Our Q10 profit was $138k, but our fee revenue was $459k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Takeaway 2: Brand &amp; Quality Are Not Costs, They Are Assets.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We </a:t>
            </a: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invested heavily in Maintenance Level 3 and high employee pay. This gave us the Rank 1 brand that allowed us to run aggressive price wars without being seen as a “cheap” airline, which was critical to our success. 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Takeaway 3: Don’t Be Afraid to Pivot.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Our first strategy was a disaster. A single, data-driven, and painful pivot in Q5 saved the entire company and led us to a top-3 finish.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